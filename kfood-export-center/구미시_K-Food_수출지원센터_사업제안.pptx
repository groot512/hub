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</c:v>
                </c:pt>
              </c:strCache>
            </c:strRef>
          </c:tx>
          <c:dPt>
            <c:idx val="0"/>
            <c:spPr>
              <a:solidFill>
                <a:srgbClr val="D4A574"/>
              </a:solidFill>
            </c:spPr>
          </c:dPt>
          <c:dPt>
            <c:idx val="1"/>
            <c:spPr>
              <a:solidFill>
                <a:srgbClr val="2D6A4F"/>
              </a:solidFill>
            </c:spPr>
          </c:dPt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6390</c:v>
                </c:pt>
                <c:pt idx="1">
                  <c:v>9400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D6B7A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품목</c:v>
                </c:pt>
              </c:strCache>
            </c:strRef>
          </c:tx>
          <c:dPt>
            <c:idx val="0"/>
            <c:spPr>
              <a:solidFill>
                <a:srgbClr val="2D6A4F"/>
              </a:solidFill>
            </c:spPr>
          </c:dPt>
          <c:dPt>
            <c:idx val="1"/>
            <c:spPr>
              <a:solidFill>
                <a:srgbClr val="E63946"/>
              </a:solidFill>
            </c:spPr>
          </c:dPt>
          <c:dPt>
            <c:idx val="2"/>
            <c:spPr>
              <a:solidFill>
                <a:srgbClr val="D4A574"/>
              </a:solidFill>
            </c:spPr>
          </c:dPt>
          <c:dPt>
            <c:idx val="3"/>
            <c:spPr>
              <a:solidFill>
                <a:srgbClr val="CDD6CF"/>
              </a:solidFill>
            </c:spPr>
          </c:dPt>
          <c:cat>
            <c:strRef>
              <c:f>Sheet1!$A$2:$A$5</c:f>
              <c:strCache>
                <c:ptCount val="4"/>
                <c:pt idx="0">
                  <c:v>라면 5,174</c:v>
                </c:pt>
                <c:pt idx="1">
                  <c:v>소스류 883</c:v>
                </c:pt>
                <c:pt idx="2">
                  <c:v>냉동김밥 808</c:v>
                </c:pt>
                <c:pt idx="3">
                  <c:v>기타 2,535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5174</c:v>
                </c:pt>
                <c:pt idx="1">
                  <c:v>883</c:v>
                </c:pt>
                <c:pt idx="2">
                  <c:v>808</c:v>
                </c:pt>
                <c:pt idx="3">
                  <c:v>2535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solidFill>
            <a:srgbClr val="1A2330"/>
          </a:solidFill>
          <a:latin typeface="Pretendard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소스시장</c:v>
                </c:pt>
              </c:strCache>
            </c:strRef>
          </c:tx>
          <c:spPr>
            <a:ln w="31750">
              <a:solidFill>
                <a:srgbClr val="D4A574"/>
              </a:solidFill>
            </a:ln>
          </c:spP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2028</c:v>
                </c:pt>
                <c:pt idx="3">
                  <c:v>2030</c:v>
                </c:pt>
                <c:pt idx="4">
                  <c:v>2032</c:v>
                </c:pt>
                <c:pt idx="5">
                  <c:v>2034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217</c:v>
                </c:pt>
                <c:pt idx="1">
                  <c:v>232</c:v>
                </c:pt>
                <c:pt idx="2">
                  <c:v>266</c:v>
                </c:pt>
                <c:pt idx="3">
                  <c:v>304</c:v>
                </c:pt>
                <c:pt idx="4">
                  <c:v>348</c:v>
                </c:pt>
                <c:pt idx="5">
                  <c:v>397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C6CED6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시장 점유율(%)</c:v>
                </c:pt>
              </c:strCache>
            </c:strRef>
          </c:tx>
          <c:spPr>
            <a:solidFill>
              <a:srgbClr val="CDD6CF"/>
            </a:solidFill>
          </c:spPr>
          <c:cat>
            <c:strRef>
              <c:f>Sheet1!$A$2:$A$3</c:f>
              <c:strCache>
                <c:ptCount val="2"/>
                <c:pt idx="0">
                  <c:v>글로벌 평균</c:v>
                </c:pt>
                <c:pt idx="1">
                  <c:v>K-소스(매운소스)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성장률(%)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Sheet1!$A$2:$A$3</c:f>
              <c:strCache>
                <c:ptCount val="2"/>
                <c:pt idx="0">
                  <c:v>글로벌 평균</c:v>
                </c:pt>
                <c:pt idx="1">
                  <c:v>K-소스(매운소스)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5.2</c:v>
                </c:pt>
                <c:pt idx="1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solidFill>
            <a:srgbClr val="5D6B7A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억원</c:v>
                </c:pt>
              </c:strCache>
            </c:strRef>
          </c:tx>
          <c:dPt>
            <c:idx val="0"/>
            <c:spPr>
              <a:solidFill>
                <a:srgbClr val="2D6A4F"/>
              </a:solidFill>
            </c:spPr>
          </c:dPt>
          <c:dPt>
            <c:idx val="1"/>
            <c:spPr>
              <a:solidFill>
                <a:srgbClr val="E63946"/>
              </a:solidFill>
            </c:spPr>
          </c:dPt>
          <c:dPt>
            <c:idx val="2"/>
            <c:spPr>
              <a:solidFill>
                <a:srgbClr val="D4A574"/>
              </a:solidFill>
            </c:spPr>
          </c:dPt>
          <c:dPt>
            <c:idx val="3"/>
            <c:spPr>
              <a:solidFill>
                <a:srgbClr val="40916C"/>
              </a:solidFill>
            </c:spPr>
          </c:dPt>
          <c:dPt>
            <c:idx val="4"/>
            <c:spPr>
              <a:solidFill>
                <a:srgbClr val="52B788"/>
              </a:solidFill>
            </c:spPr>
          </c:dPt>
          <c:dPt>
            <c:idx val="5"/>
            <c:spPr>
              <a:solidFill>
                <a:srgbClr val="B08968"/>
              </a:solidFill>
            </c:spPr>
          </c:dPt>
          <c:cat>
            <c:strRef>
              <c:f>Sheet1!$A$2:$A$7</c:f>
              <c:strCache>
                <c:ptCount val="6"/>
                <c:pt idx="0">
                  <c:v>인프라 구축 130</c:v>
                </c:pt>
                <c:pt idx="1">
                  <c:v>기업유치 45</c:v>
                </c:pt>
                <c:pt idx="2">
                  <c:v>해외거점 25</c:v>
                </c:pt>
                <c:pt idx="3">
                  <c:v>디지털 20</c:v>
                </c:pt>
                <c:pt idx="4">
                  <c:v>인재양성 15</c:v>
                </c:pt>
                <c:pt idx="5">
                  <c:v>예비비 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130</c:v>
                </c:pt>
                <c:pt idx="1">
                  <c:v>45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  <c:pt idx="5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950">
          <a:solidFill>
            <a:srgbClr val="C6CED6"/>
          </a:solidFill>
          <a:latin typeface="Pretendard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식품기업 유치(개사)</c:v>
                </c:pt>
              </c:strCache>
            </c:strRef>
          </c:tx>
          <c:spPr>
            <a:solidFill>
              <a:srgbClr val="2D6A4F"/>
            </a:solidFill>
          </c:spPr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15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수출지원 기업(개사)</c:v>
                </c:pt>
              </c:strCache>
            </c:strRef>
          </c:tx>
          <c:spPr>
            <a:solidFill>
              <a:srgbClr val="D4A574"/>
            </a:solidFill>
          </c:spPr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30</c:v>
                </c:pt>
                <c:pt idx="2">
                  <c:v>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신규 일자리(명)</c:v>
                </c:pt>
              </c:strCache>
            </c:strRef>
          </c:tx>
          <c:spPr>
            <a:solidFill>
              <a:srgbClr val="52B788"/>
            </a:solidFill>
          </c:spPr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150</c:v>
                </c:pt>
                <c:pt idx="2">
                  <c:v>300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연간 수출액(억원)</c:v>
                </c:pt>
              </c:strCache>
            </c:strRef>
          </c:tx>
          <c:spPr>
            <a:solidFill>
              <a:srgbClr val="E63946"/>
            </a:solidFill>
          </c:spPr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50</c:v>
                </c:pt>
                <c:pt idx="1">
                  <c:v>200</c:v>
                </c:pt>
                <c:pt idx="2">
                  <c:v>500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C6CED6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-bg.jpg"/>
          <p:cNvPicPr>
            <a:picLocks noChangeAspect="1"/>
          </p:cNvPicPr>
          <p:nvPr/>
        </p:nvPicPr>
        <p:blipFill>
          <a:blip r:embed="rId2"/>
          <a:srcRect t="4700" b="111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11F">
                  <a:alpha val="90"/>
                </a:srgbClr>
              </a:gs>
              <a:gs pos="100000">
                <a:srgbClr val="102A22">
                  <a:alpha val="78"/>
                </a:srgbClr>
              </a:gs>
            </a:gsLst>
            <a:lin scaled="0" ang="126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-1280160"/>
            <a:ext cx="6583680" cy="5852160"/>
          </a:xfrm>
          <a:prstGeom prst="ellipse">
            <a:avLst/>
          </a:prstGeom>
          <a:solidFill>
            <a:srgbClr val="2D6A4F">
              <a:alpha val="42"/>
            </a:srgbClr>
          </a:solidFill>
          <a:ln>
            <a:noFill/>
          </a:ln>
          <a:effectLst/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206240"/>
            <a:ext cx="5486400" cy="4572000"/>
          </a:xfrm>
          <a:prstGeom prst="ellipse">
            <a:avLst/>
          </a:prstGeom>
          <a:solidFill>
            <a:srgbClr val="D4A574">
              <a:alpha val="16"/>
            </a:srgbClr>
          </a:solidFill>
          <a:ln>
            <a:noFill/>
          </a:ln>
          <a:effectLst/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051560"/>
            <a:ext cx="4206240" cy="420624"/>
          </a:xfrm>
          <a:prstGeom prst="roundRect">
            <a:avLst>
              <a:gd name="adj" fmla="val 50000"/>
            </a:avLst>
          </a:prstGeom>
          <a:solidFill>
            <a:srgbClr val="D4A574">
              <a:alpha val="16"/>
            </a:srgbClr>
          </a:solidFill>
          <a:ln w="12700">
            <a:solidFill>
              <a:srgbClr val="D4A5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051560"/>
            <a:ext cx="4206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4A574"/>
                </a:solidFill>
                <a:latin typeface="Pretendard"/>
                <a:ea typeface="Pretendard"/>
              </a:rPr>
              <a:t>구미시 신성장동력 사업 제안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  <a:ea typeface="Pretendard"/>
              </a:rPr>
              <a:t>구미에서 세계로,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gradFill>
                  <a:gsLst>
                    <a:gs pos="0">
                      <a:srgbClr val="D4A574"/>
                    </a:gs>
                    <a:gs pos="50000">
                      <a:srgbClr val="F0D4AC"/>
                    </a:gs>
                    <a:gs pos="100000">
                      <a:srgbClr val="E63946"/>
                    </a:gs>
                  </a:gsLst>
                  <a:lin ang="1200000" scaled="1"/>
                </a:gradFill>
                <a:latin typeface="Pretendard"/>
                <a:ea typeface="Pretendard"/>
              </a:rPr>
              <a:t>K-Food의 미래를 잇다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794760"/>
            <a:ext cx="8961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CED6"/>
                </a:solidFill>
                <a:latin typeface="Pretendard"/>
                <a:ea typeface="Pretendard"/>
              </a:rPr>
              <a:t>경북 농식품 수출 1위 도시 구미시가, 1억 3천만 멕시코 시장을 교두보로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CED6"/>
                </a:solidFill>
                <a:latin typeface="Pretendard"/>
                <a:ea typeface="Pretendard"/>
              </a:rPr>
              <a:t>K-Food 수출의 글로벌 거점이 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37760"/>
            <a:ext cx="1005840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8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93776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4A574"/>
                </a:solidFill>
                <a:latin typeface="Pretendard"/>
                <a:ea typeface="Pretendard"/>
              </a:rPr>
              <a:t>사업명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</a:rPr>
              <a:t>K-Food 해외 수출 지원 센터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493776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4A574"/>
                </a:solidFill>
                <a:latin typeface="Pretendard"/>
                <a:ea typeface="Pretendard"/>
              </a:rPr>
              <a:t>총사업비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</a:rPr>
              <a:t>250억 원 / 5년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4937760"/>
            <a:ext cx="3200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4A574"/>
                </a:solidFill>
                <a:latin typeface="Pretendard"/>
                <a:ea typeface="Pretendard"/>
              </a:rPr>
              <a:t>핵심시장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</a:rPr>
              <a:t>멕시코 → 중남미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60807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08076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C1205"/>
                </a:solidFill>
                <a:latin typeface="Pretendard"/>
                <a:ea typeface="Pretendard"/>
              </a:rPr>
              <a:t>핵심 요약 보기  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6080760"/>
            <a:ext cx="201168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6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55848" y="6080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</a:rPr>
              <a:t>제언 바로가기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9543" y="5989320"/>
            <a:ext cx="292608" cy="45720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C6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1447" y="6492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C6CED6"/>
                </a:solidFill>
                <a:latin typeface="Pretendard"/>
                <a:ea typeface="Pretendard"/>
              </a:rPr>
              <a:t>S C R O L 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628"/>
              </a:gs>
              <a:gs pos="100000">
                <a:srgbClr val="102A2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</a:rPr>
              <a:t>한눈에 보는 사업의 본질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CED6"/>
                </a:solidFill>
                <a:latin typeface="Pretendard"/>
                <a:ea typeface="Pretendard"/>
              </a:rPr>
              <a:t>왜 해야 하고, 무엇을 투자하며, 무엇을 얻는가 — 의사결정에 필요한 핵심만 먼저 정리했습니다.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2513000" cy="228600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96312"/>
            <a:ext cx="214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Pretendard"/>
                <a:ea typeface="Pretendard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53512"/>
            <a:ext cx="214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D4A574"/>
                </a:solidFill>
                <a:latin typeface="Pretendard"/>
                <a:ea typeface="Pretendard"/>
              </a:rPr>
              <a:t>250</a:t>
            </a:r>
            <a:r>
              <a:rPr sz="1400" b="1">
                <a:solidFill>
                  <a:srgbClr val="D4A574"/>
                </a:solidFill>
                <a:latin typeface="Pretendard"/>
                <a:ea typeface="Pretendard"/>
              </a:rPr>
              <a:t> 억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21608"/>
            <a:ext cx="214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전략적 투자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214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6CED6"/>
                </a:solidFill>
                <a:latin typeface="Pretendard"/>
                <a:ea typeface="Pretendard"/>
              </a:rPr>
              <a:t>5년간 총사업비 (예비비 포함)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5688" y="2240280"/>
            <a:ext cx="2513000" cy="228600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1720" y="2496312"/>
            <a:ext cx="214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Pretendard"/>
                <a:ea typeface="Pretendard"/>
              </a:rP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1720" y="2953512"/>
            <a:ext cx="214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D4A574"/>
                </a:solidFill>
                <a:latin typeface="Pretendard"/>
                <a:ea typeface="Pretendard"/>
              </a:rPr>
              <a:t>500</a:t>
            </a:r>
            <a:r>
              <a:rPr sz="1400" b="1">
                <a:solidFill>
                  <a:srgbClr val="D4A574"/>
                </a:solidFill>
                <a:latin typeface="Pretendard"/>
                <a:ea typeface="Pretendard"/>
              </a:rPr>
              <a:t> 억 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1720" y="3721608"/>
            <a:ext cx="214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2028 연간 수출액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1720" y="4069080"/>
            <a:ext cx="214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6CED6"/>
                </a:solidFill>
                <a:latin typeface="Pretendard"/>
                <a:ea typeface="Pretendard"/>
              </a:rPr>
              <a:t>3년차 목표 (현재 대비 10배)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8" y="2240280"/>
            <a:ext cx="2513000" cy="228600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9040" y="2496312"/>
            <a:ext cx="214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Pretendard"/>
                <a:ea typeface="Pretendard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040" y="2953512"/>
            <a:ext cx="214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D4A574"/>
                </a:solidFill>
                <a:latin typeface="Pretendard"/>
                <a:ea typeface="Pretendard"/>
              </a:rPr>
              <a:t>300</a:t>
            </a:r>
            <a:r>
              <a:rPr sz="1400" b="1">
                <a:solidFill>
                  <a:srgbClr val="D4A574"/>
                </a:solidFill>
                <a:latin typeface="Pretendard"/>
                <a:ea typeface="Pretendard"/>
              </a:rPr>
              <a:t> 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9040" y="3721608"/>
            <a:ext cx="214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신규 일자리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040" y="4069080"/>
            <a:ext cx="214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6CED6"/>
                </a:solidFill>
                <a:latin typeface="Pretendard"/>
                <a:ea typeface="Pretendard"/>
              </a:rPr>
              <a:t>3년 누적 양질의 고용 창출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0328" y="2240280"/>
            <a:ext cx="2513000" cy="228600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76360" y="2496312"/>
            <a:ext cx="214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FFFFFF"/>
                </a:solidFill>
                <a:latin typeface="Pretendard"/>
                <a:ea typeface="Pretendard"/>
              </a:rPr>
              <a:t>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6360" y="2953512"/>
            <a:ext cx="214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D4A574"/>
                </a:solidFill>
                <a:latin typeface="Pretendard"/>
                <a:ea typeface="Pretendard"/>
              </a:rPr>
              <a:t>30</a:t>
            </a:r>
            <a:r>
              <a:rPr sz="1400" b="1">
                <a:solidFill>
                  <a:srgbClr val="D4A574"/>
                </a:solidFill>
                <a:latin typeface="Pretendard"/>
                <a:ea typeface="Pretendard"/>
              </a:rPr>
              <a:t> 개사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6360" y="3721608"/>
            <a:ext cx="214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식품기업 유치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6360" y="4069080"/>
            <a:ext cx="2147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6CED6"/>
                </a:solidFill>
                <a:latin typeface="Pretendard"/>
                <a:ea typeface="Pretendard"/>
              </a:rPr>
              <a:t>앵커기업 + 푸드테크 스타트업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92040"/>
            <a:ext cx="10874959" cy="1234440"/>
          </a:xfrm>
          <a:prstGeom prst="roundRect">
            <a:avLst>
              <a:gd name="adj" fmla="val 10000"/>
            </a:avLst>
          </a:prstGeom>
          <a:solidFill>
            <a:srgbClr val="2A1418"/>
          </a:solidFill>
          <a:ln w="12700">
            <a:solidFill>
              <a:srgbClr val="6B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5074920"/>
            <a:ext cx="1023487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⚡  구미는 이미 준비되어 있습니다. </a:t>
            </a:r>
            <a:r>
              <a:rPr sz="1200" b="0">
                <a:solidFill>
                  <a:srgbClr val="C6CED6"/>
                </a:solidFill>
                <a:latin typeface="Pretendard"/>
                <a:ea typeface="Pretendard"/>
              </a:rPr>
              <a:t>2024년 농식품 수출액 9,400만 달러(경북 1위, 전년比 +47%), 가공식품 비중 73%, 그중 소스류만 883만 달러. 여기에 282억 원 규모 푸드테크 연구지원센터가 더해집니다. 이 사업은 새로운 도전이 아니라, </a:t>
            </a:r>
            <a:r>
              <a:rPr sz="1200" b="1">
                <a:solidFill>
                  <a:srgbClr val="D4A574"/>
                </a:solidFill>
                <a:latin typeface="Pretendard"/>
                <a:ea typeface="Pretendard"/>
              </a:rPr>
              <a:t>검증된 역량의 다음 단계</a:t>
            </a:r>
            <a:r>
              <a:rPr sz="1200" b="0">
                <a:solidFill>
                  <a:srgbClr val="C6CED6"/>
                </a:solidFill>
                <a:latin typeface="Pretendard"/>
                <a:ea typeface="Pretendard"/>
              </a:rPr>
              <a:t>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276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FADBC"/>
                </a:solidFill>
                <a:latin typeface="Pretendard"/>
                <a:ea typeface="Pretendard"/>
              </a:rPr>
              <a:t>출처: 연합뉴스·경제포커스(2025.7), 농림축산식품부 푸드테크 연구지원센터 유치 자료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A4F"/>
                </a:solidFill>
                <a:latin typeface="Pretendard"/>
                <a:ea typeface="Pretendard"/>
              </a:rPr>
              <a:t>WHY NOW · 구미시 현황과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332"/>
                </a:solidFill>
                <a:latin typeface="Pretendard"/>
                <a:ea typeface="Pretendard"/>
              </a:rPr>
              <a:t>전자산업 도시에서 K-Food 수출 도시로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4708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2330"/>
                </a:solidFill>
                <a:latin typeface="Pretendard"/>
                <a:ea typeface="Pretendard"/>
              </a:rPr>
              <a:t>인구감소 대응  </a:t>
            </a: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인구감소지역 분류, 양질의 일자리·정주여건 개선 시급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1401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41401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350008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2330"/>
                </a:solidFill>
                <a:latin typeface="Pretendard"/>
                <a:ea typeface="Pretendard"/>
              </a:rPr>
              <a:t>산업구조 다변화  </a:t>
            </a: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전자산업 편중 탈피, 푸드테크 등 신성장동력 발굴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809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916936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2330"/>
                </a:solidFill>
                <a:latin typeface="Pretendard"/>
                <a:ea typeface="Pretendard"/>
              </a:rPr>
              <a:t>글로벌 거점 부족  </a:t>
            </a: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중국 외 신흥시장(중남미) 진출 거점 부재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47872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4787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483864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A2330"/>
                </a:solidFill>
                <a:latin typeface="Pretendard"/>
                <a:ea typeface="Pretendard"/>
              </a:rPr>
              <a:t>수출 인프라 한계  </a:t>
            </a: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지역 식품기업 수출 의지 대비 전문 지원체계 미비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343400"/>
            <a:ext cx="1859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544568"/>
            <a:ext cx="158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6A4F"/>
                </a:solidFill>
                <a:latin typeface="Pretendard"/>
                <a:ea typeface="Pretendard"/>
              </a:rPr>
              <a:t>9,400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만$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056632"/>
            <a:ext cx="158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D6B7A"/>
                </a:solidFill>
                <a:latin typeface="Pretendard"/>
                <a:ea typeface="Pretendard"/>
              </a:rPr>
              <a:t>2024 농식품 수출 (경북 1위)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54808" y="4343400"/>
            <a:ext cx="1859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7688" y="4544568"/>
            <a:ext cx="158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6A4F"/>
                </a:solidFill>
                <a:latin typeface="Pretendard"/>
                <a:ea typeface="Pretendard"/>
              </a:rPr>
              <a:t>+47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7688" y="5056632"/>
            <a:ext cx="158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D6B7A"/>
                </a:solidFill>
                <a:latin typeface="Pretendard"/>
                <a:ea typeface="Pretendard"/>
              </a:rPr>
              <a:t>전년 대비 수출 증가율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51248" y="4343400"/>
            <a:ext cx="18592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4128" y="4544568"/>
            <a:ext cx="158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D6A4F"/>
                </a:solidFill>
                <a:latin typeface="Pretendard"/>
                <a:ea typeface="Pretendard"/>
              </a:rPr>
              <a:t>1,865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4128" y="5056632"/>
            <a:ext cx="1584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D6B7A"/>
                </a:solidFill>
                <a:latin typeface="Pretendard"/>
                <a:ea typeface="Pretendard"/>
              </a:rPr>
              <a:t>구미 농업예산 (전체 9.98%)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4848" y="1828800"/>
            <a:ext cx="4748479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1938528"/>
            <a:ext cx="4382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구미시 농식품 수출액 추이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D6B7A"/>
                </a:solidFill>
                <a:latin typeface="Pretendard"/>
                <a:ea typeface="Pretendard"/>
              </a:rPr>
              <a:t>단위: 만 달러 · 가공식품이 전체의 73%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967728" y="2514600"/>
          <a:ext cx="4382719" cy="1463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6784848" y="4251960"/>
            <a:ext cx="474847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13448" y="4361688"/>
            <a:ext cx="4382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수출 품목 구성 — '소스 특화'의 근거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5D6B7A"/>
                </a:solidFill>
                <a:latin typeface="Pretendard"/>
                <a:ea typeface="Pretendard"/>
              </a:rPr>
              <a:t>단위: 만 달러 · 라면·소스·냉동김밥 삼각편대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967728" y="4892040"/>
          <a:ext cx="4382719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A22"/>
              </a:gs>
              <a:gs pos="100000">
                <a:srgbClr val="0A1628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WHY MEXICO · 시장 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</a:rPr>
              <a:t>왜 멕시코인가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C6CED6"/>
                </a:solidFill>
                <a:latin typeface="Pretendard"/>
                <a:ea typeface="Pretendard"/>
              </a:rPr>
              <a:t>USMCA 한 줄로는 부족합니다. </a:t>
            </a:r>
            <a:r>
              <a:rPr sz="1300" b="1">
                <a:solidFill>
                  <a:srgbClr val="D4A574"/>
                </a:solidFill>
                <a:latin typeface="Pretendard"/>
                <a:ea typeface="Pretendard"/>
              </a:rPr>
              <a:t>살사 문화 · 매운맛 선호 · 한류 확산</a:t>
            </a:r>
            <a:r>
              <a:rPr sz="1300" b="0">
                <a:solidFill>
                  <a:srgbClr val="C6CED6"/>
                </a:solidFill>
                <a:latin typeface="Pretendard"/>
                <a:ea typeface="Pretendard"/>
              </a:rPr>
              <a:t>이 동시에 작동하는, K-Food 소스에 가장 이상적인 시장입니다.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513000" cy="10972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40280"/>
            <a:ext cx="223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4A574"/>
                </a:solidFill>
                <a:latin typeface="Pretendard"/>
                <a:ea typeface="Pretendard"/>
              </a:rPr>
              <a:t>2,134</a:t>
            </a: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 억$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34056"/>
            <a:ext cx="2238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6CED6"/>
                </a:solidFill>
                <a:latin typeface="Pretendard"/>
                <a:ea typeface="Pretendard"/>
              </a:rPr>
              <a:t>멕시코 식품시장 (2024)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5688" y="2057400"/>
            <a:ext cx="2513000" cy="10972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6856" y="2240280"/>
            <a:ext cx="223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4A574"/>
                </a:solidFill>
                <a:latin typeface="Pretendard"/>
                <a:ea typeface="Pretendard"/>
              </a:rPr>
              <a:t>6,200</a:t>
            </a: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 만$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856" y="2734056"/>
            <a:ext cx="2238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6CED6"/>
                </a:solidFill>
                <a:latin typeface="Pretendard"/>
                <a:ea typeface="Pretendard"/>
              </a:rPr>
              <a:t>대멕시코 K-Food 수출 (2025)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8" y="2057400"/>
            <a:ext cx="2513000" cy="10972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4176" y="2240280"/>
            <a:ext cx="223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4A574"/>
                </a:solidFill>
                <a:latin typeface="Pretendard"/>
                <a:ea typeface="Pretendard"/>
              </a:rPr>
              <a:t>71.6</a:t>
            </a: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176" y="2734056"/>
            <a:ext cx="2238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6CED6"/>
                </a:solidFill>
                <a:latin typeface="Pretendard"/>
                <a:ea typeface="Pretendard"/>
              </a:rPr>
              <a:t>한류→한식 소비 전환율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0328" y="2057400"/>
            <a:ext cx="2513000" cy="10972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1496" y="2240280"/>
            <a:ext cx="2238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4A574"/>
                </a:solidFill>
                <a:latin typeface="Pretendard"/>
                <a:ea typeface="Pretendard"/>
              </a:rPr>
              <a:t>1.3</a:t>
            </a: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 억명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1496" y="2734056"/>
            <a:ext cx="2238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6CED6"/>
                </a:solidFill>
                <a:latin typeface="Pretendard"/>
                <a:ea typeface="Pretendard"/>
              </a:rPr>
              <a:t>내수 소비 인구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7472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</a:rPr>
              <a:t>시장이 보내는 3가지 신호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319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4A574"/>
                </a:solidFill>
                <a:latin typeface="Pretendard"/>
                <a:ea typeface="Pretendard"/>
              </a:rPr>
              <a:t>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913632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살사가 일상인 식문화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6CED6"/>
                </a:solidFill>
                <a:latin typeface="Pretendard"/>
                <a:ea typeface="Pretendard"/>
              </a:rPr>
              <a:t>100여 종 고추를 구별해 쓰는 나라 — 매운맛 장벽이 사실상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8172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4A574"/>
                </a:solidFill>
                <a:latin typeface="Pretendard"/>
                <a:ea typeface="Pretendard"/>
              </a:rPr>
              <a:t>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66344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검증된 K-소스 흥행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6CED6"/>
                </a:solidFill>
                <a:latin typeface="Pretendard"/>
                <a:ea typeface="Pretendard"/>
              </a:rPr>
              <a:t>라면 +127.8%, 커피조제품 +153.2% — 불닭소스가 타코·버거 전천후 소스로 안착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431536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D4A574"/>
                </a:solidFill>
                <a:latin typeface="Pretendard"/>
                <a:ea typeface="Pretendard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413248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retendard"/>
                <a:ea typeface="Pretendard"/>
              </a:rPr>
              <a:t>한류라는 가속 페달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6CED6"/>
                </a:solidFill>
                <a:latin typeface="Pretendard"/>
                <a:ea typeface="Pretendard"/>
              </a:rPr>
              <a:t>드라마·영화 후 1년 내 한식 소비 71.6% — 틱톡 챌린지가 바이럴 엔진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989320"/>
            <a:ext cx="5852160" cy="566928"/>
          </a:xfrm>
          <a:prstGeom prst="roundRect">
            <a:avLst>
              <a:gd name="adj" fmla="val 12000"/>
            </a:avLst>
          </a:prstGeom>
          <a:solidFill>
            <a:srgbClr val="33291A"/>
          </a:solidFill>
          <a:ln w="12700">
            <a:solidFill>
              <a:srgbClr val="6B55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6053328"/>
            <a:ext cx="5486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🛂 진입장벽 직시: </a:t>
            </a:r>
            <a:r>
              <a:rPr sz="1000" b="0">
                <a:solidFill>
                  <a:srgbClr val="C6CED6"/>
                </a:solidFill>
                <a:latin typeface="Pretendard"/>
                <a:ea typeface="Pretendard"/>
              </a:rPr>
              <a:t>NOM-051 라벨·COFEPRIS 검역·관세(MFN 10~20%) → </a:t>
            </a: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저염·저당 'Zero-Sello' 제형 + B2B 벌크로 정면 돌파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76288" y="3474720"/>
            <a:ext cx="4657039" cy="3246120"/>
          </a:xfrm>
          <a:prstGeom prst="roundRect">
            <a:avLst>
              <a:gd name="adj" fmla="val 8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04888" y="3593592"/>
            <a:ext cx="4291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</a:rPr>
              <a:t>멕시코 소스 시장 성장 전망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9FADBC"/>
                </a:solidFill>
                <a:latin typeface="Pretendard"/>
                <a:ea typeface="Pretendard"/>
              </a:rPr>
              <a:t>단위: 억 달러 · CAGR 6.95% (2025→2034)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7059168" y="4160520"/>
          <a:ext cx="4291279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A4F"/>
                </a:solidFill>
                <a:latin typeface="Pretendard"/>
                <a:ea typeface="Pretendard"/>
              </a:rPr>
              <a:t>FEASIBILITY · 사업 타당성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332"/>
                </a:solidFill>
                <a:latin typeface="Pretendard"/>
                <a:ea typeface="Pretendard"/>
              </a:rPr>
              <a:t>정책 · 경제 · 기술, 세 축에서 모두 타당하다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D6B7A"/>
                </a:solidFill>
                <a:latin typeface="Pretendard"/>
                <a:ea typeface="Pretendard"/>
              </a:rPr>
              <a:t>국가 정책에 부합하고, 경제적 효과가 분명하며, 실행할 기술 기반이 이미 구미에 존재합니다.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381146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3381146" cy="635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2176272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A2330"/>
                </a:solidFill>
                <a:latin typeface="Pretendard"/>
                <a:ea typeface="Pretendard"/>
              </a:rP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52928"/>
            <a:ext cx="28325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4332"/>
                </a:solidFill>
                <a:latin typeface="Pretendard"/>
                <a:ea typeface="Pretendard"/>
              </a:rPr>
              <a:t>정책적 타당성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33741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291840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정부 K-Food 고부가가치 지원사업 연계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6850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602736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구미 푸드테크 클러스터와 시너지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3995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913632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인구감소 대응 일자리·인재 유치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5274" y="1920240"/>
            <a:ext cx="3381146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05274" y="1920240"/>
            <a:ext cx="3381146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79594" y="2176272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9594" y="2176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A2330"/>
                </a:solidFill>
                <a:latin typeface="Pretendard"/>
                <a:ea typeface="Pretendard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9594" y="2852928"/>
            <a:ext cx="28325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4332"/>
                </a:solidFill>
                <a:latin typeface="Pretendard"/>
                <a:ea typeface="Pretendard"/>
              </a:rPr>
              <a:t>경제적 타당성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97882" y="33741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0762" y="3291840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멕시코 = USMCA 북미시장 교두보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97882" y="36850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80762" y="3602736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농심·교촌 등 앵커기업 인프라 활용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97882" y="3995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0762" y="3913632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250억 투자 → 2028 수출 500억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2180" y="1920240"/>
            <a:ext cx="3381146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2180" y="1920240"/>
            <a:ext cx="3381146" cy="635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26500" y="2176272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6500" y="21762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A2330"/>
                </a:solidFill>
                <a:latin typeface="Pretendard"/>
                <a:ea typeface="Pretendard"/>
              </a:rP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6500" y="2852928"/>
            <a:ext cx="28325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4332"/>
                </a:solidFill>
                <a:latin typeface="Pretendard"/>
                <a:ea typeface="Pretendard"/>
              </a:rPr>
              <a:t>기술적 타당성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44788" y="3374136"/>
            <a:ext cx="73152" cy="7315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27668" y="3291840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국가산단·철도·고속도로 물류 인프라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4788" y="3685032"/>
            <a:ext cx="73152" cy="7315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7668" y="3602736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282억 푸드테크 연구지원센터(2028)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44788" y="3995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7668" y="3913632"/>
            <a:ext cx="26496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구미농업대학 식품가공 인력 양성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526280"/>
            <a:ext cx="10874959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" y="4754880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4332"/>
                </a:solidFill>
                <a:latin typeface="Pretendard"/>
                <a:ea typeface="Pretendard"/>
              </a:rPr>
              <a:t>기회 시장(Opportunity Zone)에 위치한 K-소스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" y="521208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글로벌 소스 시장 약 129.5조 원(CAGR 5.2%). 그중 매운 소스(K-Sauce)는 점유율 8%로 낮지만 </a:t>
            </a:r>
            <a:r>
              <a:rPr sz="1100" b="1">
                <a:solidFill>
                  <a:srgbClr val="E63946"/>
                </a:solidFill>
                <a:latin typeface="Pretendard"/>
                <a:ea typeface="Pretendard"/>
              </a:rPr>
              <a:t>성장률 12%로 전 품목 1위</a:t>
            </a: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 — 전형적인 '기회 시장'. 해외 시즈닝·분말형 소스 비중 38%(국내 22%)로 분말 스틱 포맷 수용도도 높음.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7607808" y="4709160"/>
          <a:ext cx="3742639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A4F"/>
                </a:solidFill>
                <a:latin typeface="Pretendard"/>
                <a:ea typeface="Pretendard"/>
              </a:rPr>
              <a:t>MASTER PLAN · 실행 계획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332"/>
                </a:solidFill>
                <a:latin typeface="Pretendard"/>
                <a:ea typeface="Pretendard"/>
              </a:rPr>
              <a:t>필수 인프라 5종 — 총 130억 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970166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87286" y="212140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7286" y="212140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63946"/>
                </a:solidFill>
                <a:latin typeface="Pretendard"/>
                <a:ea typeface="Pretendard"/>
              </a:rPr>
              <a:t>우선 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2316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A2330"/>
                </a:solidFill>
                <a:latin typeface="Pretendard"/>
                <a:ea typeface="Pretendard"/>
              </a:rPr>
              <a:t>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017520"/>
            <a:ext cx="16044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수출 전용 물류센터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03320"/>
            <a:ext cx="16044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냉장·냉동 창고, 포장·검품, 통관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52628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0"/>
                </a:solidFill>
                <a:latin typeface="Pretendard"/>
                <a:ea typeface="Pretendard"/>
              </a:rPr>
              <a:t>50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4566" y="1920240"/>
            <a:ext cx="1970166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13484" y="212140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3484" y="212140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63946"/>
                </a:solidFill>
                <a:latin typeface="Pretendard"/>
                <a:ea typeface="Pretendard"/>
              </a:rPr>
              <a:t>우선 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4022" y="242316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A2330"/>
                </a:solidFill>
                <a:latin typeface="Pretendard"/>
                <a:ea typeface="Pretendard"/>
              </a:rPr>
              <a:t>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4022" y="3017520"/>
            <a:ext cx="16044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K-Food 전시·체험관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4022" y="3703320"/>
            <a:ext cx="16044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제품 전시·시식·홍보, B2B 상담 공간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4022" y="452628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0"/>
                </a:solidFill>
                <a:latin typeface="Pretendard"/>
                <a:ea typeface="Pretendard"/>
              </a:rPr>
              <a:t>20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0764" y="1920240"/>
            <a:ext cx="1970166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9682" y="212140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9682" y="212140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D6A4F"/>
                </a:solidFill>
                <a:latin typeface="Pretendard"/>
                <a:ea typeface="Pretendard"/>
              </a:rPr>
              <a:t>우선 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220" y="242316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A2330"/>
                </a:solidFill>
                <a:latin typeface="Pretendard"/>
                <a:ea typeface="Pretendard"/>
              </a:rPr>
              <a:t>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220" y="3017520"/>
            <a:ext cx="16044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푸드테크 R&amp;D 시설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220" y="3703320"/>
            <a:ext cx="16044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제품 개발, 안전성 검사, 기술 지원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220" y="452628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0"/>
                </a:solidFill>
                <a:latin typeface="Pretendard"/>
                <a:ea typeface="Pretendard"/>
              </a:rPr>
              <a:t>35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36962" y="1920240"/>
            <a:ext cx="1970166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65880" y="212140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5880" y="212140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E63946"/>
                </a:solidFill>
                <a:latin typeface="Pretendard"/>
                <a:ea typeface="Pretendard"/>
              </a:rPr>
              <a:t>우선 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6418" y="242316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A2330"/>
                </a:solidFill>
                <a:latin typeface="Pretendard"/>
                <a:ea typeface="Pretendard"/>
              </a:rPr>
              <a:t>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6418" y="3017520"/>
            <a:ext cx="16044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디지털 수출 플랫폼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6418" y="3703320"/>
            <a:ext cx="16044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온라인 상담·문제처리·데이터 분석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6418" y="452628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0"/>
                </a:solidFill>
                <a:latin typeface="Pretendard"/>
                <a:ea typeface="Pretendard"/>
              </a:rPr>
              <a:t>15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63160" y="1920240"/>
            <a:ext cx="1970166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92079" y="2121408"/>
            <a:ext cx="658368" cy="292608"/>
          </a:xfrm>
          <a:prstGeom prst="roundRect">
            <a:avLst>
              <a:gd name="adj" fmla="val 5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92079" y="212140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2D6A4F"/>
                </a:solidFill>
                <a:latin typeface="Pretendard"/>
                <a:ea typeface="Pretendard"/>
              </a:rPr>
              <a:t>우선 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616" y="242316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A2330"/>
                </a:solidFill>
                <a:latin typeface="Pretendard"/>
                <a:ea typeface="Pretendard"/>
              </a:rPr>
              <a:t>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2616" y="3017520"/>
            <a:ext cx="160440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인재 양성 센터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2616" y="3703320"/>
            <a:ext cx="160440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수출 실무·외국어 교육, 창업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2616" y="4526280"/>
            <a:ext cx="16044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2330"/>
                </a:solidFill>
                <a:latin typeface="Pretendard"/>
                <a:ea typeface="Pretendard"/>
              </a:rPr>
              <a:t>10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440680"/>
            <a:ext cx="10874959" cy="777240"/>
          </a:xfrm>
          <a:prstGeom prst="roundRect">
            <a:avLst>
              <a:gd name="adj" fmla="val 12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" y="5440680"/>
            <a:ext cx="101434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인프라 구축은 전체 사업비의 핵심 — </a:t>
            </a:r>
            <a:r>
              <a:rPr sz="1300" b="1">
                <a:solidFill>
                  <a:srgbClr val="D4A574"/>
                </a:solidFill>
                <a:latin typeface="Pretendard"/>
                <a:ea typeface="Pretendard"/>
              </a:rPr>
              <a:t>250억 중 130억(52%)을 물류·체험·R&amp;D·디지털·인재 5대 인프라에 집중 투자합니다.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A4F"/>
                </a:solidFill>
                <a:latin typeface="Pretendard"/>
                <a:ea typeface="Pretendard"/>
              </a:rPr>
              <a:t>MASTER PLAN · 실행 계획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332"/>
                </a:solidFill>
                <a:latin typeface="Pretendard"/>
                <a:ea typeface="Pretendard"/>
              </a:rPr>
              <a:t>단계별 기업 유치 + 멕시코 거점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4332"/>
                </a:solidFill>
                <a:latin typeface="Pretendard"/>
                <a:ea typeface="Pretendard"/>
              </a:rPr>
              <a:t>앵커기업에서 스타트업으로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344210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47802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1단계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487168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4A574"/>
                </a:solidFill>
                <a:latin typeface="Pretendard"/>
                <a:ea typeface="Pretendard"/>
              </a:rPr>
              <a:t>1년차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332"/>
                </a:solidFill>
                <a:latin typeface="Pretendard"/>
                <a:ea typeface="Pretendard"/>
              </a:rPr>
              <a:t>국내 유망 식품기업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6440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63946"/>
                </a:solidFill>
                <a:latin typeface="Pretendard"/>
                <a:ea typeface="Pretendard"/>
              </a:rPr>
              <a:t>10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개사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→ </a:t>
            </a:r>
            <a:r>
              <a:rPr sz="1000" b="0">
                <a:solidFill>
                  <a:srgbClr val="5D6B7A"/>
                </a:solidFill>
                <a:latin typeface="Pretendard"/>
                <a:ea typeface="Pretendard"/>
              </a:rPr>
              <a:t>농심·교촌 등 기존 기업 확대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→ </a:t>
            </a:r>
            <a:r>
              <a:rPr sz="1000" b="0">
                <a:solidFill>
                  <a:srgbClr val="5D6B7A"/>
                </a:solidFill>
                <a:latin typeface="Pretendard"/>
                <a:ea typeface="Pretendard"/>
              </a:rPr>
              <a:t>중기부 공모사업 연계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4794" y="2240280"/>
            <a:ext cx="344210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0826" y="247802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0826" y="2478024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2단계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4954" y="2487168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4A574"/>
                </a:solidFill>
                <a:latin typeface="Pretendard"/>
                <a:ea typeface="Pretendard"/>
              </a:rPr>
              <a:t>2–3년차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0826" y="2898648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332"/>
                </a:solidFill>
                <a:latin typeface="Pretendard"/>
                <a:ea typeface="Pretendard"/>
              </a:rPr>
              <a:t>전문 유통·무역 기업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0826" y="326440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63946"/>
                </a:solidFill>
                <a:latin typeface="Pretendard"/>
                <a:ea typeface="Pretendard"/>
              </a:rPr>
              <a:t>5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개사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0826" y="3776472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→ </a:t>
            </a:r>
            <a:r>
              <a:rPr sz="1000" b="0">
                <a:solidFill>
                  <a:srgbClr val="5D6B7A"/>
                </a:solidFill>
                <a:latin typeface="Pretendard"/>
                <a:ea typeface="Pretendard"/>
              </a:rPr>
              <a:t>해외 유통망 보유 기업 우선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0826" y="4023360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→ </a:t>
            </a:r>
            <a:r>
              <a:rPr sz="1000" b="0">
                <a:solidFill>
                  <a:srgbClr val="5D6B7A"/>
                </a:solidFill>
                <a:latin typeface="Pretendard"/>
                <a:ea typeface="Pretendard"/>
              </a:rPr>
              <a:t>멕시코 현지 유통사 MOU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1220" y="2240280"/>
            <a:ext cx="3442106" cy="2011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47252" y="247802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7252" y="2478024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retendard"/>
                <a:ea typeface="Pretendard"/>
              </a:rPr>
              <a:t>3단계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1380" y="2487168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4A574"/>
                </a:solidFill>
                <a:latin typeface="Pretendard"/>
                <a:ea typeface="Pretendard"/>
              </a:rPr>
              <a:t>4–5년차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7252" y="2898648"/>
            <a:ext cx="29849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332"/>
                </a:solidFill>
                <a:latin typeface="Pretendard"/>
                <a:ea typeface="Pretendard"/>
              </a:rPr>
              <a:t>푸드테크 스타트업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7252" y="3264408"/>
            <a:ext cx="29849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63946"/>
                </a:solidFill>
                <a:latin typeface="Pretendard"/>
                <a:ea typeface="Pretendard"/>
              </a:rPr>
              <a:t>20</a:t>
            </a:r>
            <a:r>
              <a:rPr sz="1100" b="1">
                <a:solidFill>
                  <a:srgbClr val="5D6B7A"/>
                </a:solidFill>
                <a:latin typeface="Pretendard"/>
                <a:ea typeface="Pretendard"/>
              </a:rPr>
              <a:t> 개사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7252" y="3776472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→ </a:t>
            </a:r>
            <a:r>
              <a:rPr sz="1000" b="0">
                <a:solidFill>
                  <a:srgbClr val="5D6B7A"/>
                </a:solidFill>
                <a:latin typeface="Pretendard"/>
                <a:ea typeface="Pretendard"/>
              </a:rPr>
              <a:t>푸드테크협의회 경북·대구지회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7252" y="4023360"/>
            <a:ext cx="29849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→ </a:t>
            </a:r>
            <a:r>
              <a:rPr sz="1000" b="0">
                <a:solidFill>
                  <a:srgbClr val="5D6B7A"/>
                </a:solidFill>
                <a:latin typeface="Pretendard"/>
                <a:ea typeface="Pretendard"/>
              </a:rPr>
              <a:t>창업 지원 프로그램 운영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526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4332"/>
                </a:solidFill>
                <a:latin typeface="Pretendard"/>
                <a:ea typeface="Pretendard"/>
              </a:rPr>
              <a:t>멕시코 거점 구축 로드맵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37760"/>
            <a:ext cx="344210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51755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1288" y="5120640"/>
            <a:ext cx="28020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847"/>
                </a:solidFill>
                <a:latin typeface="Pretendard"/>
                <a:ea typeface="Pretendard"/>
              </a:rPr>
              <a:t>2026 · 3분기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40680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현지 유통사 선정 &amp; MOU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779008"/>
            <a:ext cx="298490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3–4개사 협상 → 구미시-현지 유통사 MOU. 아시아온푸드 등 우선 검토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4794" y="4937760"/>
            <a:ext cx="344210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30826" y="51755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77714" y="5120640"/>
            <a:ext cx="28020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847"/>
                </a:solidFill>
                <a:latin typeface="Pretendard"/>
                <a:ea typeface="Pretendard"/>
              </a:rPr>
              <a:t>2026 · 4분기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0826" y="5440680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K-Food 전용관 &amp; 파일럿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30826" y="5779008"/>
            <a:ext cx="298490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현지 전용관 설치, 5개 품목 시험 수출로 시장 반응 검증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1220" y="4937760"/>
            <a:ext cx="3442106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47252" y="51755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4140" y="5120640"/>
            <a:ext cx="28020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847"/>
                </a:solidFill>
                <a:latin typeface="Pretendard"/>
                <a:ea typeface="Pretendard"/>
              </a:rPr>
              <a:t>2027 · 1분기~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7252" y="5440680"/>
            <a:ext cx="298490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4332"/>
                </a:solidFill>
                <a:latin typeface="Pretendard"/>
                <a:ea typeface="Pretendard"/>
              </a:rPr>
              <a:t>현지 법인 &amp; 중남미 확대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7252" y="5779008"/>
            <a:ext cx="298490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현지 법인 설립, 콜롬비아·페루 등 중남미로 거점 확장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A4F"/>
                </a:solidFill>
                <a:latin typeface="Pretendard"/>
                <a:ea typeface="Pretendard"/>
              </a:rPr>
              <a:t>PROVEN MODELS · 검증된 성공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332"/>
                </a:solidFill>
                <a:latin typeface="Pretendard"/>
                <a:ea typeface="Pretendard"/>
              </a:rPr>
              <a:t>상상이 아니라, 이미 통한 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D6B7A"/>
                </a:solidFill>
                <a:latin typeface="Pretendard"/>
                <a:ea typeface="Pretendard"/>
              </a:rPr>
              <a:t>이 사업의 제품 전략은 가설이 아닙니다. 글로벌과 지역 양쪽에서 검증된 두 모델이 방향을 증명합니다.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5254599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48839"/>
            <a:ext cx="4523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63946"/>
                </a:solidFill>
                <a:latin typeface="Pretendard"/>
                <a:ea typeface="Pretendard"/>
              </a:rPr>
              <a:t>글로벌 검증 · 삼양 불닭소스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23159"/>
            <a:ext cx="4523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332"/>
                </a:solidFill>
                <a:latin typeface="Pretendard"/>
                <a:ea typeface="Pretendard"/>
              </a:rPr>
              <a:t>매운맛을 '놀이'로 만든 바이럴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898647"/>
            <a:ext cx="4523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라면 스프를 독립 소스로 — 타코·버거·피자 전천후 테이블 소스화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474719"/>
            <a:ext cx="4523079" cy="12700"/>
          </a:xfrm>
          <a:prstGeom prst="rect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657599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63946"/>
                </a:solidFill>
                <a:latin typeface="Pretendard"/>
                <a:ea typeface="Pretendard"/>
              </a:rPr>
              <a:t>77</a:t>
            </a:r>
            <a:r>
              <a:rPr sz="1200" b="1">
                <a:solidFill>
                  <a:srgbClr val="E63946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114799"/>
            <a:ext cx="22615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2024 해외 매출 비중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5667" y="3657599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63946"/>
                </a:solidFill>
                <a:latin typeface="Pretendard"/>
                <a:ea typeface="Pretendard"/>
              </a:rPr>
              <a:t>35</a:t>
            </a:r>
            <a:r>
              <a:rPr sz="1200" b="1">
                <a:solidFill>
                  <a:srgbClr val="E63946"/>
                </a:solidFill>
                <a:latin typeface="Pretendard"/>
                <a:ea typeface="Pretendard"/>
              </a:rPr>
              <a:t>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5667" y="4114799"/>
            <a:ext cx="22615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대멕시코 라면 수출 점유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4480559"/>
            <a:ext cx="4523079" cy="12700"/>
          </a:xfrm>
          <a:prstGeom prst="rect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617719"/>
            <a:ext cx="4523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'Fire Noodle Challenge'로 SNS 바이럴, 매운 랜치 디핑 소스 등 현지 융합 제형으로 대중성 확보. 젊은 층이 자발적으로 틱톡·인스타에 챌린지를 올리는 게이미피케이션이 핵심.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669279"/>
            <a:ext cx="4523079" cy="566928"/>
          </a:xfrm>
          <a:prstGeom prst="roundRect">
            <a:avLst>
              <a:gd name="adj" fmla="val 15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5733287"/>
            <a:ext cx="41573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3946"/>
                </a:solidFill>
                <a:latin typeface="Pretendard"/>
                <a:ea typeface="Pretendard"/>
              </a:rPr>
              <a:t>구미 적용 → </a:t>
            </a:r>
            <a:r>
              <a:rPr sz="1000" b="0">
                <a:solidFill>
                  <a:srgbClr val="1B4332"/>
                </a:solidFill>
                <a:latin typeface="Pretendard"/>
                <a:ea typeface="Pretendard"/>
              </a:rPr>
              <a:t>천혜향·레드향 만감류를 가미한 'K-시트러스 핫소스'로 차별화, 동일 숏폼 바이럴 공식 이식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1874519"/>
            <a:ext cx="5254599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4487" y="2148839"/>
            <a:ext cx="4523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63946"/>
                </a:solidFill>
                <a:latin typeface="Pretendard"/>
                <a:ea typeface="Pretendard"/>
              </a:rPr>
              <a:t>지역 모델 · K1 스틱소스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487" y="2423159"/>
            <a:ext cx="4523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332"/>
                </a:solidFill>
                <a:latin typeface="Pretendard"/>
                <a:ea typeface="Pretendard"/>
              </a:rPr>
              <a:t>액상의 한계를 깬 분말 스틱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4487" y="2898647"/>
            <a:ext cx="4523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부피 80% 감소·파손율 0%로 역직구 물류를 혁신한 구미 예비창업 모델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44487" y="3474719"/>
            <a:ext cx="4523079" cy="12700"/>
          </a:xfrm>
          <a:prstGeom prst="rect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4487" y="3657599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63946"/>
                </a:solidFill>
                <a:latin typeface="Pretendard"/>
                <a:ea typeface="Pretendard"/>
              </a:rPr>
              <a:t>80</a:t>
            </a:r>
            <a:r>
              <a:rPr sz="1200" b="1">
                <a:solidFill>
                  <a:srgbClr val="E63946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4114799"/>
            <a:ext cx="22615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액상 대비 부피 절감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027" y="3657599"/>
            <a:ext cx="22615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63946"/>
                </a:solidFill>
                <a:latin typeface="Pretendard"/>
                <a:ea typeface="Pretendard"/>
              </a:rPr>
              <a:t>47</a:t>
            </a:r>
            <a:r>
              <a:rPr sz="1200" b="1">
                <a:solidFill>
                  <a:srgbClr val="E63946"/>
                </a:solidFill>
                <a:latin typeface="Pretendard"/>
                <a:ea typeface="Pretendard"/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027" y="4114799"/>
            <a:ext cx="22615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D6B7A"/>
                </a:solidFill>
                <a:latin typeface="Pretendard"/>
                <a:ea typeface="Pretendard"/>
              </a:rPr>
              <a:t>아마존 판매 단위 마진율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4487" y="4480559"/>
            <a:ext cx="4523079" cy="12700"/>
          </a:xfrm>
          <a:prstGeom prst="rect">
            <a:avLst/>
          </a:prstGeom>
          <a:solidFill>
            <a:srgbClr val="E2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4487" y="4617719"/>
            <a:ext cx="4523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A2330"/>
                </a:solidFill>
                <a:latin typeface="Pretendard"/>
                <a:ea typeface="Pretendard"/>
              </a:rPr>
              <a:t>고추장·간장 등 복합 조미를 1회분 스틱으로 표준화, 패키지 QR→레시피 앱으로 '경험' 연결. 아마존 FBA 최적화로 북미 이커머스(소스의 55% 점유)를 직접 공략하는 콘텐츠 커머스 모델.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4487" y="5669279"/>
            <a:ext cx="4523079" cy="566928"/>
          </a:xfrm>
          <a:prstGeom prst="roundRect">
            <a:avLst>
              <a:gd name="adj" fmla="val 15000"/>
            </a:avLst>
          </a:prstGeom>
          <a:solidFill>
            <a:srgbClr val="F3E7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7367" y="5733287"/>
            <a:ext cx="41573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63946"/>
                </a:solidFill>
                <a:latin typeface="Pretendard"/>
                <a:ea typeface="Pretendard"/>
              </a:rPr>
              <a:t>구미 적용 → </a:t>
            </a:r>
            <a:r>
              <a:rPr sz="1000" b="0">
                <a:solidFill>
                  <a:srgbClr val="1B4332"/>
                </a:solidFill>
                <a:latin typeface="Pretendard"/>
                <a:ea typeface="Pretendard"/>
              </a:rPr>
              <a:t>푸드테크센터 OEM 인프라로 스틱 양산, 수출 전용관·디지털 플랫폼과 직결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A22"/>
              </a:gs>
              <a:gs pos="100000">
                <a:srgbClr val="0A162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INVESTMENT · 투자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</a:rPr>
              <a:t>250억을 어디에 쓰는가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852160" cy="4572000"/>
          </a:xfrm>
          <a:prstGeom prst="roundRect">
            <a:avLst>
              <a:gd name="adj" fmla="val 6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9202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총사업비 250억 원 항목별 배분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9FADBC"/>
                </a:solidFill>
                <a:latin typeface="Pretendard"/>
                <a:ea typeface="Pretendard"/>
              </a:rPr>
              <a:t>5년간 · 예비비 10% 포함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32688" y="2468880"/>
          <a:ext cx="53035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76288" y="1783080"/>
            <a:ext cx="4657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</a:rPr>
              <a:t>재원 조달 4채널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2194560"/>
            <a:ext cx="4657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C6CED6"/>
                </a:solidFill>
                <a:latin typeface="Pretendard"/>
                <a:ea typeface="Pretendard"/>
              </a:rPr>
              <a:t>국비를 우선 확보하고 도비·시비·민자를 단계적으로 매칭하는 구조 (비율은 공모 결과에 따라 조정)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3063240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6CED6"/>
                </a:solidFill>
                <a:latin typeface="Pretendard"/>
                <a:ea typeface="Pretendard"/>
              </a:rPr>
              <a:t>국비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62088" y="3118104"/>
            <a:ext cx="3285439" cy="182880"/>
          </a:xfrm>
          <a:prstGeom prst="roundRect">
            <a:avLst>
              <a:gd name="adj" fmla="val 50000"/>
            </a:avLst>
          </a:prstGeom>
          <a:solidFill>
            <a:srgbClr val="24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62088" y="3118104"/>
            <a:ext cx="1314175" cy="18288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8967" y="3063240"/>
            <a:ext cx="594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3538728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6CED6"/>
                </a:solidFill>
                <a:latin typeface="Pretendard"/>
                <a:ea typeface="Pretendard"/>
              </a:rPr>
              <a:t>도비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2088" y="3593592"/>
            <a:ext cx="3285439" cy="182880"/>
          </a:xfrm>
          <a:prstGeom prst="roundRect">
            <a:avLst>
              <a:gd name="adj" fmla="val 50000"/>
            </a:avLst>
          </a:prstGeom>
          <a:solidFill>
            <a:srgbClr val="24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62088" y="3593592"/>
            <a:ext cx="821359" cy="182880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8967" y="3538728"/>
            <a:ext cx="594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4014216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6CED6"/>
                </a:solidFill>
                <a:latin typeface="Pretendard"/>
                <a:ea typeface="Pretendard"/>
              </a:rPr>
              <a:t>시비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62088" y="4069080"/>
            <a:ext cx="3285439" cy="182880"/>
          </a:xfrm>
          <a:prstGeom prst="roundRect">
            <a:avLst>
              <a:gd name="adj" fmla="val 50000"/>
            </a:avLst>
          </a:prstGeom>
          <a:solidFill>
            <a:srgbClr val="24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62088" y="4069080"/>
            <a:ext cx="657087" cy="182880"/>
          </a:xfrm>
          <a:prstGeom prst="roundRect">
            <a:avLst>
              <a:gd name="adj" fmla="val 50000"/>
            </a:avLst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8967" y="4014216"/>
            <a:ext cx="594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48970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6CED6"/>
                </a:solidFill>
                <a:latin typeface="Pretendard"/>
                <a:ea typeface="Pretendard"/>
              </a:rPr>
              <a:t>민자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62088" y="4544568"/>
            <a:ext cx="3285439" cy="182880"/>
          </a:xfrm>
          <a:prstGeom prst="roundRect">
            <a:avLst>
              <a:gd name="adj" fmla="val 50000"/>
            </a:avLst>
          </a:prstGeom>
          <a:solidFill>
            <a:srgbClr val="24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62088" y="4544568"/>
            <a:ext cx="492815" cy="18288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38967" y="4489704"/>
            <a:ext cx="594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15%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76288" y="51663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4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51663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5148072"/>
            <a:ext cx="4199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국비  </a:t>
            </a:r>
            <a:r>
              <a:rPr sz="1000" b="0">
                <a:solidFill>
                  <a:srgbClr val="C6CED6"/>
                </a:solidFill>
                <a:latin typeface="Pretendard"/>
                <a:ea typeface="Pretendard"/>
              </a:rPr>
              <a:t>산업부 K-Food 수출 지원사업 연계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76288" y="56235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4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56235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5605272"/>
            <a:ext cx="4199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도비  </a:t>
            </a:r>
            <a:r>
              <a:rPr sz="1000" b="0">
                <a:solidFill>
                  <a:srgbClr val="C6CED6"/>
                </a:solidFill>
                <a:latin typeface="Pretendard"/>
                <a:ea typeface="Pretendard"/>
              </a:rPr>
              <a:t>경북 푸드테크 클러스터 예산 연계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76288" y="60807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243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6288" y="608076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4A574"/>
                </a:solidFill>
                <a:latin typeface="Pretendard"/>
                <a:ea typeface="Pretendard"/>
              </a:rPr>
              <a:t>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3488" y="6062472"/>
            <a:ext cx="4199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민자  </a:t>
            </a:r>
            <a:r>
              <a:rPr sz="1000" b="0">
                <a:solidFill>
                  <a:srgbClr val="C6CED6"/>
                </a:solidFill>
                <a:latin typeface="Pretendard"/>
                <a:ea typeface="Pretendard"/>
              </a:rPr>
              <a:t>식품기업 컨소시엄 참여 유도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02A22"/>
              </a:gs>
              <a:gs pos="100000">
                <a:srgbClr val="0A162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RETURN · 성과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</a:rPr>
              <a:t>무엇으로 증명하는가 — KPI 3개년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74959" cy="4114800"/>
          </a:xfrm>
          <a:prstGeom prst="roundRect">
            <a:avLst>
              <a:gd name="adj" fmla="val 5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74519"/>
            <a:ext cx="101434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기업 유치 · 수출 지원 · 일자리 · 수출액의 단계적 확대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24128" y="2377440"/>
          <a:ext cx="10143439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8932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FADBC"/>
                </a:solidFill>
                <a:latin typeface="Pretendard"/>
                <a:ea typeface="Pretendard"/>
              </a:rPr>
              <a:t>※ 수출액 목표(2028년 500억)는 구미 현 수출 실적과 멕시코 시장 성장률 근거로 산정. 세부 산출근거는 별도 부속서로 제공 권장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A4F"/>
                </a:solidFill>
                <a:latin typeface="Pretendard"/>
                <a:ea typeface="Pretendard"/>
              </a:rPr>
              <a:t>RISK MANAGEMENT · 리스크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332"/>
                </a:solidFill>
                <a:latin typeface="Pretendard"/>
                <a:ea typeface="Pretendard"/>
              </a:rPr>
              <a:t>리스크를 먼저 그린다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D6B7A"/>
                </a:solidFill>
                <a:latin typeface="Pretendard"/>
                <a:ea typeface="Pretendard"/>
              </a:rPr>
              <a:t>발생 가능성과 영향도로 5대 리스크를 배치하고, 각각의 대응방안을 사전에 설계했습니다.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1828800"/>
            <a:ext cx="31677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D6B7A"/>
                </a:solidFill>
                <a:latin typeface="Pretendard"/>
                <a:ea typeface="Pretendard"/>
              </a:rPr>
              <a:t>영향도 — 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97754" y="1828800"/>
            <a:ext cx="31677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D6B7A"/>
                </a:solidFill>
                <a:latin typeface="Pretendard"/>
                <a:ea typeface="Pretendard"/>
              </a:rPr>
              <a:t>영향도 — 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5540" y="1828800"/>
            <a:ext cx="31677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D6B7A"/>
                </a:solidFill>
                <a:latin typeface="Pretendard"/>
                <a:ea typeface="Pretendard"/>
              </a:rPr>
              <a:t>영향도 — 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1280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D6B7A"/>
                </a:solidFill>
                <a:latin typeface="Pretendard"/>
                <a:ea typeface="Pretendard"/>
              </a:rPr>
              <a:t>발생 가능성 높음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4330" y="2148840"/>
            <a:ext cx="3058058" cy="1143000"/>
          </a:xfrm>
          <a:prstGeom prst="roundRect">
            <a:avLst>
              <a:gd name="adj" fmla="val 10000"/>
            </a:avLst>
          </a:prstGeom>
          <a:solidFill>
            <a:srgbClr val="D98324"/>
          </a:solidFill>
          <a:ln>
            <a:noFill/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0634" y="2286000"/>
            <a:ext cx="28020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예산 확보 지연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80634" y="2788920"/>
            <a:ext cx="28020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Pretendard"/>
                <a:ea typeface="Pretendard"/>
              </a:rPr>
              <a:t>국비 우선 확보·단계적 집행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1280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D6B7A"/>
                </a:solidFill>
                <a:latin typeface="Pretendard"/>
                <a:ea typeface="Pretendard"/>
              </a:rPr>
              <a:t>발생 가능성 중간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02116" y="3401568"/>
            <a:ext cx="3058058" cy="114300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>
            <a:noFill/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8420" y="3538728"/>
            <a:ext cx="28020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수출시장 변동·기업유치 부진·현지협력 차질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8420" y="4041648"/>
            <a:ext cx="28020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Pretendard"/>
                <a:ea typeface="Pretendard"/>
              </a:rPr>
              <a:t>시장 다변화 / 인센티브·원스톱 / 복수 유통사 병행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54296"/>
            <a:ext cx="12801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D6B7A"/>
                </a:solidFill>
                <a:latin typeface="Pretendard"/>
                <a:ea typeface="Pretendard"/>
              </a:rPr>
              <a:t>발생 가능성 낮음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4330" y="4654296"/>
            <a:ext cx="3058058" cy="11430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>
            <a:noFill/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0634" y="4791456"/>
            <a:ext cx="28020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기술적 장애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0634" y="5294376"/>
            <a:ext cx="280202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Pretendard"/>
                <a:ea typeface="Pretendard"/>
              </a:rPr>
              <a:t>전문가 자문단·유지보수 계약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29968" y="60258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9984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D6B7A"/>
                </a:solidFill>
                <a:latin typeface="Pretendard"/>
                <a:ea typeface="Pretendard"/>
              </a:rPr>
              <a:t>관리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67328" y="60258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59984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D6B7A"/>
                </a:solidFill>
                <a:latin typeface="Pretendard"/>
                <a:ea typeface="Pretendard"/>
              </a:rPr>
              <a:t>주의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04688" y="60258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599846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D6B7A"/>
                </a:solidFill>
                <a:latin typeface="Pretendard"/>
                <a:ea typeface="Pretendard"/>
              </a:rPr>
              <a:t>집중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484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D6A4F"/>
                </a:solidFill>
                <a:latin typeface="Pretendard"/>
                <a:ea typeface="Pretendard"/>
              </a:rPr>
              <a:t>EXPECTED IMPACT · 기대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813816"/>
            <a:ext cx="1087495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4332"/>
                </a:solidFill>
                <a:latin typeface="Pretendard"/>
                <a:ea typeface="Pretendard"/>
              </a:rPr>
              <a:t>구미가 얻는 네 가지 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251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94560"/>
            <a:ext cx="2513000" cy="635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560320"/>
            <a:ext cx="205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A2330"/>
                </a:solidFill>
                <a:latin typeface="Pretendard"/>
                <a:ea typeface="Pretendard"/>
              </a:rPr>
              <a:t>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37560"/>
            <a:ext cx="205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4332"/>
                </a:solidFill>
                <a:latin typeface="Pretendard"/>
                <a:ea typeface="Pretendard"/>
              </a:rPr>
              <a:t>지역경제 활성화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023360"/>
            <a:ext cx="205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식품산업 집적으로 지역 총생산 증대, 인구 유입형 일자리 창출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5688" y="2194560"/>
            <a:ext cx="251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5688" y="2194560"/>
            <a:ext cx="2513000" cy="6350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0008" y="2560320"/>
            <a:ext cx="205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A2330"/>
                </a:solidFill>
                <a:latin typeface="Pretendard"/>
                <a:ea typeface="Pretendard"/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8" y="3337560"/>
            <a:ext cx="205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4332"/>
                </a:solidFill>
                <a:latin typeface="Pretendard"/>
                <a:ea typeface="Pretendard"/>
              </a:rPr>
              <a:t>산업구조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0008" y="4023360"/>
            <a:ext cx="205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푸드테크·디지털 전환 선도로 R&amp;D 중심 산업 경쟁력 확보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8" y="2194560"/>
            <a:ext cx="251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8" y="2194560"/>
            <a:ext cx="2513000" cy="63500"/>
          </a:xfrm>
          <a:prstGeom prst="rect">
            <a:avLst/>
          </a:prstGeom>
          <a:solidFill>
            <a:srgbClr val="0068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8" y="2560320"/>
            <a:ext cx="205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A2330"/>
                </a:solidFill>
                <a:latin typeface="Pretendard"/>
                <a:ea typeface="Pretendard"/>
              </a:rPr>
              <a:t>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8" y="3337560"/>
            <a:ext cx="205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4332"/>
                </a:solidFill>
                <a:latin typeface="Pretendard"/>
                <a:ea typeface="Pretendard"/>
              </a:rPr>
              <a:t>글로벌 네트워크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8" y="4023360"/>
            <a:ext cx="205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중남미 진출 거점 확보, 한-멕시코 협력 모델로 수출시장 다변화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0328" y="2194560"/>
            <a:ext cx="251300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6E3"/>
            </a:solidFill>
          </a:ln>
          <a:effectLst/>
          <a:effectLst>
            <a:outerShdw blurRad="180000" dist="90000" dir="5400000" rotWithShape="0">
              <a:srgbClr val="0A1628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20328" y="2194560"/>
            <a:ext cx="2513000" cy="6350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4648" y="2560320"/>
            <a:ext cx="205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0">
                <a:solidFill>
                  <a:srgbClr val="1A2330"/>
                </a:solidFill>
                <a:latin typeface="Pretendard"/>
                <a:ea typeface="Pretendard"/>
              </a:rPr>
              <a:t>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4648" y="3337560"/>
            <a:ext cx="205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4332"/>
                </a:solidFill>
                <a:latin typeface="Pretendard"/>
                <a:ea typeface="Pretendard"/>
              </a:rPr>
              <a:t>시정 시그니처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4648" y="4023360"/>
            <a:ext cx="2055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6B7A"/>
                </a:solidFill>
                <a:latin typeface="Pretendard"/>
                <a:ea typeface="Pretendard"/>
              </a:rPr>
              <a:t>가시적 성과로 시민 지지 제고, 지속가능 발전 기반 마련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628"/>
              </a:gs>
              <a:gs pos="100000">
                <a:srgbClr val="102A22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0" y="-1371600"/>
            <a:ext cx="6400800" cy="64008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21792"/>
            <a:ext cx="274320" cy="30480"/>
          </a:xfrm>
          <a:prstGeom prst="rect">
            <a:avLst/>
          </a:prstGeom>
          <a:solidFill>
            <a:srgbClr val="D4A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303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4A574"/>
                </a:solidFill>
                <a:latin typeface="Pretendard"/>
                <a:ea typeface="Pretendard"/>
              </a:rPr>
              <a:t>CONCLUSION · 결론 및 제언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8749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</a:rPr>
              <a:t>검증된 역량 위에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4A574"/>
                </a:solidFill>
                <a:latin typeface="Pretendard"/>
                <a:ea typeface="Pretendard"/>
              </a:rPr>
              <a:t>새로운 성장축을 세웁니다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0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6CED6"/>
                </a:solidFill>
                <a:latin typeface="Pretendard"/>
                <a:ea typeface="Pretendard"/>
              </a:rPr>
              <a:t>구미시는 기존 식품산업 인프라를 활용해 멕시코를 교두보로 중남미에 진출할 충분한 타당성을 갖추고 있습니다. 성공적 추진을 위한 5대 제언을 제시합니다.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154680"/>
            <a:ext cx="1992111" cy="17830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355848"/>
            <a:ext cx="171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74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867912"/>
            <a:ext cx="1672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</a:rPr>
              <a:t>단계적 접근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25112"/>
            <a:ext cx="1672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ED6"/>
                </a:solidFill>
                <a:latin typeface="Pretendard"/>
                <a:ea typeface="Pretendard"/>
              </a:rPr>
              <a:t>앵커 식품기업 → 푸드테크 스타트업 점진 확대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9079" y="3154680"/>
            <a:ext cx="1992111" cy="17830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0247" y="3355848"/>
            <a:ext cx="171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74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0247" y="3867912"/>
            <a:ext cx="1672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</a:rPr>
              <a:t>데이터 기반 의사결정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0247" y="4325112"/>
            <a:ext cx="1672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ED6"/>
                </a:solidFill>
                <a:latin typeface="Pretendard"/>
                <a:ea typeface="Pretendard"/>
              </a:rPr>
              <a:t>시장·리스크 분석 도구로 효율성 제고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9791" y="3154680"/>
            <a:ext cx="1992111" cy="17830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0959" y="3355848"/>
            <a:ext cx="171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74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0959" y="3867912"/>
            <a:ext cx="1672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</a:rPr>
              <a:t>강력한 추진 조직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0959" y="4325112"/>
            <a:ext cx="1672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ED6"/>
                </a:solidFill>
                <a:latin typeface="Pretendard"/>
                <a:ea typeface="Pretendard"/>
              </a:rPr>
              <a:t>시장 직속 TF 구성, 전담 인력 배치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0503" y="3154680"/>
            <a:ext cx="1992111" cy="17830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1671" y="3355848"/>
            <a:ext cx="171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74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1671" y="3867912"/>
            <a:ext cx="1672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</a:rPr>
              <a:t>지속적 시민 소통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1671" y="4325112"/>
            <a:ext cx="1672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ED6"/>
                </a:solidFill>
                <a:latin typeface="Pretendard"/>
                <a:ea typeface="Pretendard"/>
              </a:rPr>
              <a:t>추진경과 정기 공개, 시민 의견 수렴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1215" y="3154680"/>
            <a:ext cx="1992111" cy="1783080"/>
          </a:xfrm>
          <a:prstGeom prst="roundRect">
            <a:avLst>
              <a:gd name="adj" fmla="val 10000"/>
            </a:avLst>
          </a:prstGeom>
          <a:solidFill>
            <a:srgbClr val="0F2036"/>
          </a:solidFill>
          <a:ln w="12700">
            <a:solidFill>
              <a:srgbClr val="2A3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42383" y="3355848"/>
            <a:ext cx="17177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74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2383" y="3867912"/>
            <a:ext cx="16720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Pretendard"/>
                <a:ea typeface="Pretendard"/>
              </a:rPr>
              <a:t>유연한 계획 조정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2383" y="4325112"/>
            <a:ext cx="16720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6CED6"/>
                </a:solidFill>
                <a:latin typeface="Pretendard"/>
                <a:ea typeface="Pretendard"/>
              </a:rPr>
              <a:t>분기별 성과평가로 계획 수정·보완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57800"/>
            <a:ext cx="1087495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</a:rPr>
              <a:t>"구미시가 </a:t>
            </a:r>
            <a:r>
              <a:rPr sz="1800" b="1">
                <a:solidFill>
                  <a:srgbClr val="D4A574"/>
                </a:solidFill>
                <a:latin typeface="Pretendard"/>
                <a:ea typeface="Pretendard"/>
              </a:rPr>
              <a:t>K-Food의 세계화</a:t>
            </a:r>
            <a:r>
              <a:rPr sz="1800" b="1">
                <a:solidFill>
                  <a:srgbClr val="FFFFFF"/>
                </a:solidFill>
                <a:latin typeface="Pretendard"/>
                <a:ea typeface="Pretendard"/>
              </a:rPr>
              <a:t>를 이끌고,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</a:rPr>
              <a:t>세계가 구미의 식품산업을 주목할 것입니다."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FADBC"/>
                </a:solidFill>
                <a:latin typeface="Pretendard"/>
                <a:ea typeface="Pretendard"/>
              </a:rPr>
              <a:t>© 2026 구미시 K-Food 해외 수출 지원 센터 사업 제안 · 신임 시장 보고용 · 총사업비 250억 원 / 5년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